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Exo 2 Bold" charset="1" panose="00000800000000000000"/>
      <p:regular r:id="rId11"/>
    </p:embeddedFont>
    <p:embeddedFont>
      <p:font typeface="Exo 2" charset="1" panose="00000500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258300"/>
            <a:ext cx="18288000" cy="1063114"/>
            <a:chOff x="0" y="0"/>
            <a:chExt cx="24384000" cy="14174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417447"/>
            </a:xfrm>
            <a:custGeom>
              <a:avLst/>
              <a:gdLst/>
              <a:ahLst/>
              <a:cxnLst/>
              <a:rect r="r" b="b" t="t" l="l"/>
              <a:pathLst>
                <a:path h="1417447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417447"/>
                  </a:lnTo>
                  <a:lnTo>
                    <a:pt x="0" y="1417447"/>
                  </a:lnTo>
                  <a:close/>
                </a:path>
              </a:pathLst>
            </a:custGeom>
            <a:solidFill>
              <a:srgbClr val="1B3A6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6254" y="9372554"/>
            <a:ext cx="595392" cy="796506"/>
            <a:chOff x="0" y="0"/>
            <a:chExt cx="793856" cy="10620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93877" cy="1061974"/>
            </a:xfrm>
            <a:custGeom>
              <a:avLst/>
              <a:gdLst/>
              <a:ahLst/>
              <a:cxnLst/>
              <a:rect r="r" b="b" t="t" l="l"/>
              <a:pathLst>
                <a:path h="1061974" w="793877">
                  <a:moveTo>
                    <a:pt x="0" y="0"/>
                  </a:moveTo>
                  <a:lnTo>
                    <a:pt x="793877" y="0"/>
                  </a:lnTo>
                  <a:lnTo>
                    <a:pt x="793877" y="1061974"/>
                  </a:lnTo>
                  <a:lnTo>
                    <a:pt x="0" y="1061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6" t="0" r="-164" b="-3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506957" y="9546440"/>
            <a:ext cx="6290560" cy="486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Національний технічний університет України</a:t>
            </a:r>
          </a:p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«Київський політехнічний інститут імені Ігоря Сікорського»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903663"/>
            <a:ext cx="16230600" cy="2721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9"/>
              </a:lnSpc>
              <a:spcBef>
                <a:spcPct val="0"/>
              </a:spcBef>
            </a:pP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НАВЧ</a:t>
            </a: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АЛЬНО-МЕТОДИЧНИЙ КОМПЛЕКС З ДИСЦИПЛІНИ «КРОСПЛАТФОРМНА РОЗРОБКА МОБІЛЬНИХ ЗАСТОСУНКІВ» НА DART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833208" y="5648325"/>
            <a:ext cx="8621583" cy="72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b="true" sz="4200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Медведєв Андрій Іванович ТВ-21</a:t>
            </a:r>
          </a:p>
        </p:txBody>
      </p:sp>
      <p:sp>
        <p:nvSpPr>
          <p:cNvPr name="AutoShape 9" id="9"/>
          <p:cNvSpPr/>
          <p:nvPr/>
        </p:nvSpPr>
        <p:spPr>
          <a:xfrm>
            <a:off x="4152657" y="5317587"/>
            <a:ext cx="9982687" cy="0"/>
          </a:xfrm>
          <a:prstGeom prst="line">
            <a:avLst/>
          </a:prstGeom>
          <a:ln cap="rnd" w="76200">
            <a:solidFill>
              <a:srgbClr val="1B3A6E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258300"/>
            <a:ext cx="18288000" cy="1063114"/>
            <a:chOff x="0" y="0"/>
            <a:chExt cx="24384000" cy="14174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417447"/>
            </a:xfrm>
            <a:custGeom>
              <a:avLst/>
              <a:gdLst/>
              <a:ahLst/>
              <a:cxnLst/>
              <a:rect r="r" b="b" t="t" l="l"/>
              <a:pathLst>
                <a:path h="1417447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417447"/>
                  </a:lnTo>
                  <a:lnTo>
                    <a:pt x="0" y="1417447"/>
                  </a:lnTo>
                  <a:close/>
                </a:path>
              </a:pathLst>
            </a:custGeom>
            <a:solidFill>
              <a:srgbClr val="1B3A6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6254" y="9372554"/>
            <a:ext cx="595392" cy="796506"/>
            <a:chOff x="0" y="0"/>
            <a:chExt cx="793856" cy="10620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93877" cy="1061974"/>
            </a:xfrm>
            <a:custGeom>
              <a:avLst/>
              <a:gdLst/>
              <a:ahLst/>
              <a:cxnLst/>
              <a:rect r="r" b="b" t="t" l="l"/>
              <a:pathLst>
                <a:path h="1061974" w="793877">
                  <a:moveTo>
                    <a:pt x="0" y="0"/>
                  </a:moveTo>
                  <a:lnTo>
                    <a:pt x="793877" y="0"/>
                  </a:lnTo>
                  <a:lnTo>
                    <a:pt x="793877" y="1061974"/>
                  </a:lnTo>
                  <a:lnTo>
                    <a:pt x="0" y="1061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6" t="0" r="-164" b="-3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506957" y="9546440"/>
            <a:ext cx="6290560" cy="486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Національний технічний університет України</a:t>
            </a:r>
          </a:p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«Київський політехнічний інститут імені Ігоря Сікорського»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833208" y="923925"/>
            <a:ext cx="8621583" cy="890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9"/>
              </a:lnSpc>
              <a:spcBef>
                <a:spcPct val="0"/>
              </a:spcBef>
            </a:pP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АКТУАЛЬНІСТЬ ТЕМИ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318487"/>
            <a:ext cx="16230600" cy="196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Мова програмування Dart набуває все більшої популярності серед ІТ-</a:t>
            </a: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компаній та розробників завдяки фреймворку Flutter, який дає змогу створювати кросплатформні мобільні застосунки з високою продуктивністю. Разом із цим зростає кількість навчальних матеріалів і документації для вивчення Dart.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4569655"/>
            <a:ext cx="16230600" cy="2462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Однак значна частина таких ресурсів доступна лише англійською мовою, що ускладнює процес навч</a:t>
            </a: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ання для україномовних користувачів. Тому важливо дослідити наявні українські джерела, порівняти їх з оригінальними англомовними, визначити їхні переваги й недоліки та оцінити, наскільки вони відповідають сучасним потребам розробників. Отримані результати надалі будуть використані для створення плану навчання та розроблення додатка.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258300"/>
            <a:ext cx="18288000" cy="1063114"/>
            <a:chOff x="0" y="0"/>
            <a:chExt cx="24384000" cy="14174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417447"/>
            </a:xfrm>
            <a:custGeom>
              <a:avLst/>
              <a:gdLst/>
              <a:ahLst/>
              <a:cxnLst/>
              <a:rect r="r" b="b" t="t" l="l"/>
              <a:pathLst>
                <a:path h="1417447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417447"/>
                  </a:lnTo>
                  <a:lnTo>
                    <a:pt x="0" y="1417447"/>
                  </a:lnTo>
                  <a:close/>
                </a:path>
              </a:pathLst>
            </a:custGeom>
            <a:solidFill>
              <a:srgbClr val="1B3A6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6254" y="9372554"/>
            <a:ext cx="595392" cy="796506"/>
            <a:chOff x="0" y="0"/>
            <a:chExt cx="793856" cy="10620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93877" cy="1061974"/>
            </a:xfrm>
            <a:custGeom>
              <a:avLst/>
              <a:gdLst/>
              <a:ahLst/>
              <a:cxnLst/>
              <a:rect r="r" b="b" t="t" l="l"/>
              <a:pathLst>
                <a:path h="1061974" w="793877">
                  <a:moveTo>
                    <a:pt x="0" y="0"/>
                  </a:moveTo>
                  <a:lnTo>
                    <a:pt x="793877" y="0"/>
                  </a:lnTo>
                  <a:lnTo>
                    <a:pt x="793877" y="1061974"/>
                  </a:lnTo>
                  <a:lnTo>
                    <a:pt x="0" y="1061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6" t="0" r="-164" b="-3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506957" y="9546440"/>
            <a:ext cx="6290560" cy="486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Національний технічний університет України</a:t>
            </a:r>
          </a:p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«Київський політехнічний інститут імені Ігоря Сікорського»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833208" y="923925"/>
            <a:ext cx="8621583" cy="890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9"/>
              </a:lnSpc>
              <a:spcBef>
                <a:spcPct val="0"/>
              </a:spcBef>
            </a:pP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МЕ</a:t>
            </a: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ТА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318487"/>
            <a:ext cx="16230600" cy="2462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Метою даної роботи є дослідження, порівняння та аналіз актуальних джерел </a:t>
            </a: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і навчальних матеріалів для вивчення мови програмування Dart. На основі отриманих результатів планується сформувати висновки, які визначатимуть напрям подальшого розвитку навчально-методичного комплексу з дисципліни «Кросплатформна розробка мобільних застосунків» на Dart.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835949" y="4675084"/>
            <a:ext cx="6616102" cy="3713287"/>
          </a:xfrm>
          <a:custGeom>
            <a:avLst/>
            <a:gdLst/>
            <a:ahLst/>
            <a:cxnLst/>
            <a:rect r="r" b="b" t="t" l="l"/>
            <a:pathLst>
              <a:path h="3713287" w="6616102">
                <a:moveTo>
                  <a:pt x="0" y="0"/>
                </a:moveTo>
                <a:lnTo>
                  <a:pt x="6616102" y="0"/>
                </a:lnTo>
                <a:lnTo>
                  <a:pt x="6616102" y="3713287"/>
                </a:lnTo>
                <a:lnTo>
                  <a:pt x="0" y="3713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258300"/>
            <a:ext cx="18288000" cy="1063114"/>
            <a:chOff x="0" y="0"/>
            <a:chExt cx="24384000" cy="141748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417447"/>
            </a:xfrm>
            <a:custGeom>
              <a:avLst/>
              <a:gdLst/>
              <a:ahLst/>
              <a:cxnLst/>
              <a:rect r="r" b="b" t="t" l="l"/>
              <a:pathLst>
                <a:path h="1417447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417447"/>
                  </a:lnTo>
                  <a:lnTo>
                    <a:pt x="0" y="1417447"/>
                  </a:lnTo>
                  <a:close/>
                </a:path>
              </a:pathLst>
            </a:custGeom>
            <a:solidFill>
              <a:srgbClr val="1B3A6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826254" y="9372554"/>
            <a:ext cx="595392" cy="796506"/>
            <a:chOff x="0" y="0"/>
            <a:chExt cx="793856" cy="106200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93877" cy="1061974"/>
            </a:xfrm>
            <a:custGeom>
              <a:avLst/>
              <a:gdLst/>
              <a:ahLst/>
              <a:cxnLst/>
              <a:rect r="r" b="b" t="t" l="l"/>
              <a:pathLst>
                <a:path h="1061974" w="793877">
                  <a:moveTo>
                    <a:pt x="0" y="0"/>
                  </a:moveTo>
                  <a:lnTo>
                    <a:pt x="793877" y="0"/>
                  </a:lnTo>
                  <a:lnTo>
                    <a:pt x="793877" y="1061974"/>
                  </a:lnTo>
                  <a:lnTo>
                    <a:pt x="0" y="1061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6" t="0" r="-164" b="-3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506957" y="9546440"/>
            <a:ext cx="6290560" cy="486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Національний технічний університет України</a:t>
            </a:r>
          </a:p>
          <a:p>
            <a:pPr algn="l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Exo 2 Bold"/>
                <a:ea typeface="Exo 2 Bold"/>
                <a:cs typeface="Exo 2 Bold"/>
                <a:sym typeface="Exo 2 Bold"/>
              </a:rPr>
              <a:t>«Київський політехнічний інститут імені Ігоря Сікорського»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737958" y="923925"/>
            <a:ext cx="8621583" cy="890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9"/>
              </a:lnSpc>
              <a:spcBef>
                <a:spcPct val="0"/>
              </a:spcBef>
            </a:pP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ОБ’ЄК</a:t>
            </a: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Т ДОСЛІДЖЕННЯ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2319444"/>
            <a:ext cx="16230600" cy="1471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Процес створення та </a:t>
            </a: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вдосконалення навчально-методичного комплексу з дисципліни «Кросплатформна розробка мобільних застосунків» на Dart, у сфері інженерії програмного забезпечення.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833208" y="4248474"/>
            <a:ext cx="8621583" cy="890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39"/>
              </a:lnSpc>
              <a:spcBef>
                <a:spcPct val="0"/>
              </a:spcBef>
            </a:pP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ПРЕДМЕ</a:t>
            </a:r>
            <a:r>
              <a:rPr lang="en-US" b="true" sz="5099">
                <a:solidFill>
                  <a:srgbClr val="1B3A6E"/>
                </a:solidFill>
                <a:latin typeface="Exo 2 Bold"/>
                <a:ea typeface="Exo 2 Bold"/>
                <a:cs typeface="Exo 2 Bold"/>
                <a:sym typeface="Exo 2 Bold"/>
              </a:rPr>
              <a:t>Т ДОСЛІДЖЕННЯ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5643037"/>
            <a:ext cx="16230600" cy="1471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Методи, підходи та програмні засоби аналізу, створення й </a:t>
            </a:r>
            <a:r>
              <a:rPr lang="en-US" sz="2799">
                <a:solidFill>
                  <a:srgbClr val="1B3A6E"/>
                </a:solidFill>
                <a:latin typeface="Exo 2"/>
                <a:ea typeface="Exo 2"/>
                <a:cs typeface="Exo 2"/>
                <a:sym typeface="Exo 2"/>
              </a:rPr>
              <a:t>використання навчально-методичних матеріалів і ресурсів для вивчення мови програмування Dart у процесі підготовки фахівців з інженерії програмного забезпечення.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DAG4aBOPJqw</dc:identifier>
  <dcterms:modified xsi:type="dcterms:W3CDTF">2011-08-01T06:04:30Z</dcterms:modified>
  <cp:revision>1</cp:revision>
  <dc:title>Національний технічний університет України «Київський політехнічний інститут імені Ігоря Сікорського»</dc:title>
</cp:coreProperties>
</file>