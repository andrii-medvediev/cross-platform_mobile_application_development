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Exo 2 Bold" charset="1" panose="00000800000000000000"/>
      <p:regular r:id="rId11"/>
    </p:embeddedFont>
    <p:embeddedFont>
      <p:font typeface="Exo 2" charset="1" panose="000005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63114"/>
            <a:chOff x="0" y="0"/>
            <a:chExt cx="24384000" cy="14174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17447"/>
            </a:xfrm>
            <a:custGeom>
              <a:avLst/>
              <a:gdLst/>
              <a:ahLst/>
              <a:cxnLst/>
              <a:rect r="r" b="b" t="t" l="l"/>
              <a:pathLst>
                <a:path h="141744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17447"/>
                  </a:lnTo>
                  <a:lnTo>
                    <a:pt x="0" y="1417447"/>
                  </a:lnTo>
                  <a:close/>
                </a:path>
              </a:pathLst>
            </a:custGeom>
            <a:solidFill>
              <a:srgbClr val="1B3A6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6254" y="9372554"/>
            <a:ext cx="595392" cy="796506"/>
            <a:chOff x="0" y="0"/>
            <a:chExt cx="793856" cy="10620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93877" cy="1061974"/>
            </a:xfrm>
            <a:custGeom>
              <a:avLst/>
              <a:gdLst/>
              <a:ahLst/>
              <a:cxnLst/>
              <a:rect r="r" b="b" t="t" l="l"/>
              <a:pathLst>
                <a:path h="1061974" w="793877">
                  <a:moveTo>
                    <a:pt x="0" y="0"/>
                  </a:moveTo>
                  <a:lnTo>
                    <a:pt x="793877" y="0"/>
                  </a:lnTo>
                  <a:lnTo>
                    <a:pt x="793877" y="1061974"/>
                  </a:lnTo>
                  <a:lnTo>
                    <a:pt x="0" y="1061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6" t="0" r="-164" b="-3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06957" y="9546440"/>
            <a:ext cx="6290560" cy="48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Національний технічний університет України</a:t>
            </a:r>
          </a:p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«Київський політехнічний інститут імені Ігоря Сікорського»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903663"/>
            <a:ext cx="16230600" cy="272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b="true" sz="5099">
                <a:solidFill>
                  <a:srgbClr val="1B3A6E"/>
                </a:solidFill>
                <a:latin typeface="Exo 2 Bold"/>
                <a:ea typeface="Exo 2 Bold"/>
                <a:cs typeface="Exo 2 Bold"/>
                <a:sym typeface="Exo 2 Bold"/>
              </a:rPr>
              <a:t>НАВЧ</a:t>
            </a:r>
            <a:r>
              <a:rPr lang="en-US" b="true" sz="5099">
                <a:solidFill>
                  <a:srgbClr val="1B3A6E"/>
                </a:solidFill>
                <a:latin typeface="Exo 2 Bold"/>
                <a:ea typeface="Exo 2 Bold"/>
                <a:cs typeface="Exo 2 Bold"/>
                <a:sym typeface="Exo 2 Bold"/>
              </a:rPr>
              <a:t>АЛЬНО-МЕТОДИЧНИЙ КОМПЛЕКС З ДИСЦИПЛІНИ «КРОСПЛАТФОРМНА РОЗРОБКА МОБІЛЬНИХ ЗАСТОСУНКІВ» НА DART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33208" y="5566200"/>
            <a:ext cx="8621583" cy="72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1B3A6E"/>
                </a:solidFill>
                <a:latin typeface="Exo 2 Bold"/>
                <a:ea typeface="Exo 2 Bold"/>
                <a:cs typeface="Exo 2 Bold"/>
                <a:sym typeface="Exo 2 Bold"/>
              </a:rPr>
              <a:t>Медведєв Андрій Іванович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24007" y="7234445"/>
            <a:ext cx="12239986" cy="72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1B3A6E"/>
                </a:solidFill>
                <a:latin typeface="Exo 2 Bold"/>
                <a:ea typeface="Exo 2 Bold"/>
                <a:cs typeface="Exo 2 Bold"/>
                <a:sym typeface="Exo 2 Bold"/>
              </a:rPr>
              <a:t>Недашківський Олексій Леонідовин</a:t>
            </a:r>
          </a:p>
        </p:txBody>
      </p:sp>
      <p:sp>
        <p:nvSpPr>
          <p:cNvPr name="AutoShape 10" id="10"/>
          <p:cNvSpPr/>
          <p:nvPr/>
        </p:nvSpPr>
        <p:spPr>
          <a:xfrm>
            <a:off x="4152657" y="5181600"/>
            <a:ext cx="9982687" cy="0"/>
          </a:xfrm>
          <a:prstGeom prst="line">
            <a:avLst/>
          </a:prstGeom>
          <a:ln cap="rnd" w="76200">
            <a:solidFill>
              <a:srgbClr val="1B3A6E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63114"/>
            <a:chOff x="0" y="0"/>
            <a:chExt cx="24384000" cy="14174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17447"/>
            </a:xfrm>
            <a:custGeom>
              <a:avLst/>
              <a:gdLst/>
              <a:ahLst/>
              <a:cxnLst/>
              <a:rect r="r" b="b" t="t" l="l"/>
              <a:pathLst>
                <a:path h="141744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17447"/>
                  </a:lnTo>
                  <a:lnTo>
                    <a:pt x="0" y="1417447"/>
                  </a:lnTo>
                  <a:close/>
                </a:path>
              </a:pathLst>
            </a:custGeom>
            <a:solidFill>
              <a:srgbClr val="1B3A6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6254" y="9372554"/>
            <a:ext cx="595392" cy="796506"/>
            <a:chOff x="0" y="0"/>
            <a:chExt cx="793856" cy="10620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93877" cy="1061974"/>
            </a:xfrm>
            <a:custGeom>
              <a:avLst/>
              <a:gdLst/>
              <a:ahLst/>
              <a:cxnLst/>
              <a:rect r="r" b="b" t="t" l="l"/>
              <a:pathLst>
                <a:path h="1061974" w="793877">
                  <a:moveTo>
                    <a:pt x="0" y="0"/>
                  </a:moveTo>
                  <a:lnTo>
                    <a:pt x="793877" y="0"/>
                  </a:lnTo>
                  <a:lnTo>
                    <a:pt x="793877" y="1061974"/>
                  </a:lnTo>
                  <a:lnTo>
                    <a:pt x="0" y="1061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6" t="0" r="-164" b="-3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06957" y="9546440"/>
            <a:ext cx="6290560" cy="48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Національний технічний університет України</a:t>
            </a:r>
          </a:p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«Київський політехнічний інститут імені Ігоря Сікорського»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33208" y="923925"/>
            <a:ext cx="8621583" cy="890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b="true" sz="5099">
                <a:solidFill>
                  <a:srgbClr val="1B3A6E"/>
                </a:solidFill>
                <a:latin typeface="Exo 2 Bold"/>
                <a:ea typeface="Exo 2 Bold"/>
                <a:cs typeface="Exo 2 Bold"/>
                <a:sym typeface="Exo 2 Bold"/>
              </a:rPr>
              <a:t>АКТУАЛЬНІСТЬ ТЕМИ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365907"/>
            <a:ext cx="16230600" cy="2462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rPr>
              <a:t>Мова програмування Dart та фреймворк Flutter останнім часом стрімко набувають популярності. Вони</a:t>
            </a:r>
            <a:r>
              <a:rPr lang="en-US" sz="2799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rPr>
              <a:t> дозволяють створювати кросплатформні мобільні застосунки з єдиною кодовою базою, що робить їх привабливим рішенням як для малих стартапів так і для великих проєктів. В результаті попит на фахівців зростає, однак якісних україномовних навчальних ресурсів з Dart практично не має, що суттєво ускладнює навчання для студентів.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379561"/>
            <a:ext cx="16230600" cy="196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rPr>
              <a:t>Саме тому розробка україномовного навч</a:t>
            </a:r>
            <a:r>
              <a:rPr lang="en-US" sz="2799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rPr>
              <a:t>ально-методичного комплексу є актуальним рішенням. Комплекс стане частиною системи є-Кафедра і об'єднає навчальні матеріали, практичні завдання та інструменти оцінювання в єдину платформу, корисну як для студентів що опановують мову так і для викладачів що організовують навчальний процес.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63114"/>
            <a:chOff x="0" y="0"/>
            <a:chExt cx="24384000" cy="14174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17447"/>
            </a:xfrm>
            <a:custGeom>
              <a:avLst/>
              <a:gdLst/>
              <a:ahLst/>
              <a:cxnLst/>
              <a:rect r="r" b="b" t="t" l="l"/>
              <a:pathLst>
                <a:path h="141744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17447"/>
                  </a:lnTo>
                  <a:lnTo>
                    <a:pt x="0" y="1417447"/>
                  </a:lnTo>
                  <a:close/>
                </a:path>
              </a:pathLst>
            </a:custGeom>
            <a:solidFill>
              <a:srgbClr val="1B3A6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6254" y="9372554"/>
            <a:ext cx="595392" cy="796506"/>
            <a:chOff x="0" y="0"/>
            <a:chExt cx="793856" cy="10620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93877" cy="1061974"/>
            </a:xfrm>
            <a:custGeom>
              <a:avLst/>
              <a:gdLst/>
              <a:ahLst/>
              <a:cxnLst/>
              <a:rect r="r" b="b" t="t" l="l"/>
              <a:pathLst>
                <a:path h="1061974" w="793877">
                  <a:moveTo>
                    <a:pt x="0" y="0"/>
                  </a:moveTo>
                  <a:lnTo>
                    <a:pt x="793877" y="0"/>
                  </a:lnTo>
                  <a:lnTo>
                    <a:pt x="793877" y="1061974"/>
                  </a:lnTo>
                  <a:lnTo>
                    <a:pt x="0" y="1061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6" t="0" r="-164" b="-3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2364746"/>
            <a:ext cx="16230600" cy="196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rPr>
              <a:t>Метою даної роботи є розробка навчально-методичного комплексу з</a:t>
            </a:r>
            <a:r>
              <a:rPr lang="en-US" sz="2799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rPr>
              <a:t> дисципліни «Кросплатформна розробка мобільних застосунків» на Dart, який надасть доступ до сучасного україномовного курсу для студентів та забезпечить викладачів зручними засобами організації навчального процесу у межах системи є-Кафедра.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311171" y="5143500"/>
            <a:ext cx="5044075" cy="2830987"/>
          </a:xfrm>
          <a:custGeom>
            <a:avLst/>
            <a:gdLst/>
            <a:ahLst/>
            <a:cxnLst/>
            <a:rect r="r" b="b" t="t" l="l"/>
            <a:pathLst>
              <a:path h="2830987" w="5044075">
                <a:moveTo>
                  <a:pt x="0" y="0"/>
                </a:moveTo>
                <a:lnTo>
                  <a:pt x="5044075" y="0"/>
                </a:lnTo>
                <a:lnTo>
                  <a:pt x="5044075" y="2830987"/>
                </a:lnTo>
                <a:lnTo>
                  <a:pt x="0" y="2830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77638" y="5682005"/>
            <a:ext cx="6154307" cy="1753977"/>
          </a:xfrm>
          <a:custGeom>
            <a:avLst/>
            <a:gdLst/>
            <a:ahLst/>
            <a:cxnLst/>
            <a:rect r="r" b="b" t="t" l="l"/>
            <a:pathLst>
              <a:path h="1753977" w="6154307">
                <a:moveTo>
                  <a:pt x="0" y="0"/>
                </a:moveTo>
                <a:lnTo>
                  <a:pt x="6154307" y="0"/>
                </a:lnTo>
                <a:lnTo>
                  <a:pt x="6154307" y="1753977"/>
                </a:lnTo>
                <a:lnTo>
                  <a:pt x="0" y="17539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06957" y="9546440"/>
            <a:ext cx="6290560" cy="48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Національний технічний університет України</a:t>
            </a:r>
          </a:p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«Київський політехнічний інститут імені Ігоря Сікорського»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33208" y="923925"/>
            <a:ext cx="8621583" cy="890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b="true" sz="5099">
                <a:solidFill>
                  <a:srgbClr val="1B3A6E"/>
                </a:solidFill>
                <a:latin typeface="Exo 2 Bold"/>
                <a:ea typeface="Exo 2 Bold"/>
                <a:cs typeface="Exo 2 Bold"/>
                <a:sym typeface="Exo 2 Bold"/>
              </a:rPr>
              <a:t>МЕ</a:t>
            </a:r>
            <a:r>
              <a:rPr lang="en-US" b="true" sz="5099">
                <a:solidFill>
                  <a:srgbClr val="1B3A6E"/>
                </a:solidFill>
                <a:latin typeface="Exo 2 Bold"/>
                <a:ea typeface="Exo 2 Bold"/>
                <a:cs typeface="Exo 2 Bold"/>
                <a:sym typeface="Exo 2 Bold"/>
              </a:rPr>
              <a:t>ТА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63114"/>
            <a:chOff x="0" y="0"/>
            <a:chExt cx="24384000" cy="14174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17447"/>
            </a:xfrm>
            <a:custGeom>
              <a:avLst/>
              <a:gdLst/>
              <a:ahLst/>
              <a:cxnLst/>
              <a:rect r="r" b="b" t="t" l="l"/>
              <a:pathLst>
                <a:path h="141744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17447"/>
                  </a:lnTo>
                  <a:lnTo>
                    <a:pt x="0" y="1417447"/>
                  </a:lnTo>
                  <a:close/>
                </a:path>
              </a:pathLst>
            </a:custGeom>
            <a:solidFill>
              <a:srgbClr val="1B3A6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6254" y="9372554"/>
            <a:ext cx="595392" cy="796506"/>
            <a:chOff x="0" y="0"/>
            <a:chExt cx="793856" cy="10620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93877" cy="1061974"/>
            </a:xfrm>
            <a:custGeom>
              <a:avLst/>
              <a:gdLst/>
              <a:ahLst/>
              <a:cxnLst/>
              <a:rect r="r" b="b" t="t" l="l"/>
              <a:pathLst>
                <a:path h="1061974" w="793877">
                  <a:moveTo>
                    <a:pt x="0" y="0"/>
                  </a:moveTo>
                  <a:lnTo>
                    <a:pt x="793877" y="0"/>
                  </a:lnTo>
                  <a:lnTo>
                    <a:pt x="793877" y="1061974"/>
                  </a:lnTo>
                  <a:lnTo>
                    <a:pt x="0" y="1061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6" t="0" r="-164" b="-3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06957" y="9546440"/>
            <a:ext cx="6290560" cy="48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Національний технічний університет України</a:t>
            </a:r>
          </a:p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«Київський політехнічний інститут імені Ігоря Сікорського»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37958" y="923925"/>
            <a:ext cx="8621583" cy="890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b="true" sz="5099">
                <a:solidFill>
                  <a:srgbClr val="1B3A6E"/>
                </a:solidFill>
                <a:latin typeface="Exo 2 Bold"/>
                <a:ea typeface="Exo 2 Bold"/>
                <a:cs typeface="Exo 2 Bold"/>
                <a:sym typeface="Exo 2 Bold"/>
              </a:rPr>
              <a:t>ОБ’ЄК</a:t>
            </a:r>
            <a:r>
              <a:rPr lang="en-US" b="true" sz="5099">
                <a:solidFill>
                  <a:srgbClr val="1B3A6E"/>
                </a:solidFill>
                <a:latin typeface="Exo 2 Bold"/>
                <a:ea typeface="Exo 2 Bold"/>
                <a:cs typeface="Exo 2 Bold"/>
                <a:sym typeface="Exo 2 Bold"/>
              </a:rPr>
              <a:t>Т ДОСЛІДЖЕННЯ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319444"/>
            <a:ext cx="16230600" cy="1471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rPr>
              <a:t>Процес створення та </a:t>
            </a:r>
            <a:r>
              <a:rPr lang="en-US" sz="2799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rPr>
              <a:t>вдосконалення навчально-методичного комплексу з дисципліни «Кросплатформна розробка мобільних застосунків» на Dart, у сфері інженерії програмного забезпечення.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33208" y="4248474"/>
            <a:ext cx="8621583" cy="890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b="true" sz="5099">
                <a:solidFill>
                  <a:srgbClr val="1B3A6E"/>
                </a:solidFill>
                <a:latin typeface="Exo 2 Bold"/>
                <a:ea typeface="Exo 2 Bold"/>
                <a:cs typeface="Exo 2 Bold"/>
                <a:sym typeface="Exo 2 Bold"/>
              </a:rPr>
              <a:t>ПРЕДМЕ</a:t>
            </a:r>
            <a:r>
              <a:rPr lang="en-US" b="true" sz="5099">
                <a:solidFill>
                  <a:srgbClr val="1B3A6E"/>
                </a:solidFill>
                <a:latin typeface="Exo 2 Bold"/>
                <a:ea typeface="Exo 2 Bold"/>
                <a:cs typeface="Exo 2 Bold"/>
                <a:sym typeface="Exo 2 Bold"/>
              </a:rPr>
              <a:t>Т ДОСЛІДЖЕННЯ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643993"/>
            <a:ext cx="16230600" cy="1471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rPr>
              <a:t>Методи, підходи та програмні засоби створення, структурування і </a:t>
            </a:r>
            <a:r>
              <a:rPr lang="en-US" sz="2799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rPr>
              <a:t>використання навчально-методичних матеріалів для вивчення мови програмування Dart та забезпечення якісної організації навчального процесу і оцінювання результатів навчання студентів.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DAG4aBOPJqw</dc:identifier>
  <dcterms:modified xsi:type="dcterms:W3CDTF">2011-08-01T06:04:30Z</dcterms:modified>
  <cp:revision>1</cp:revision>
  <dc:title>Національний технічний університет України «Київський політехнічний інститут імені Ігоря Сікорського»</dc:title>
</cp:coreProperties>
</file>